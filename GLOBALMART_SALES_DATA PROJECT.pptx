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60" r:id="rId4"/>
    <p:sldId id="258" r:id="rId5"/>
    <p:sldId id="259" r:id="rId6"/>
    <p:sldId id="269" r:id="rId7"/>
    <p:sldId id="270" r:id="rId8"/>
    <p:sldId id="271" r:id="rId9"/>
    <p:sldId id="272" r:id="rId10"/>
    <p:sldId id="262" r:id="rId11"/>
    <p:sldId id="261" r:id="rId12"/>
    <p:sldId id="263" r:id="rId13"/>
    <p:sldId id="264" r:id="rId14"/>
    <p:sldId id="267" r:id="rId15"/>
    <p:sldId id="273" r:id="rId16"/>
    <p:sldId id="275" r:id="rId17"/>
    <p:sldId id="266" r:id="rId18"/>
    <p:sldId id="265" r:id="rId19"/>
    <p:sldId id="276" r:id="rId20"/>
    <p:sldId id="277"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7" d="100"/>
          <a:sy n="67" d="100"/>
        </p:scale>
        <p:origin x="644"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9/3/2025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9/3/2025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9/3/2025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9/3/2025</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ixabay.com/illustrations/thumbs-up-smiley-face-emoji-happy-4007573/"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unknowncystic.wordpress.com/2012/05/" TargetMode="External"/><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courses.lumenlearning.com/wm-humanresourcesmgmt/chapter/challenges-in-people-analytics/" TargetMode="External"/><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 Id="rId5" Type="http://schemas.openxmlformats.org/officeDocument/2006/relationships/image" Target="../media/image15.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pixabay.com/en/meeting-relationship-business-1020181/" TargetMode="External"/><Relationship Id="rId2" Type="http://schemas.openxmlformats.org/officeDocument/2006/relationships/image" Target="../media/image16.jpg"/><Relationship Id="rId1" Type="http://schemas.openxmlformats.org/officeDocument/2006/relationships/slideLayout" Target="../slideLayouts/slideLayout2.xml"/><Relationship Id="rId5" Type="http://schemas.openxmlformats.org/officeDocument/2006/relationships/hyperlink" Target="https://www.picpedia.org/chalkboard/c/conclusions.html" TargetMode="External"/><Relationship Id="rId4" Type="http://schemas.openxmlformats.org/officeDocument/2006/relationships/image" Target="../media/image17.jpg"/></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0A96B-306F-4012-BB02-3DEE51B93EC0}"/>
              </a:ext>
            </a:extLst>
          </p:cNvPr>
          <p:cNvSpPr>
            <a:spLocks noGrp="1"/>
          </p:cNvSpPr>
          <p:nvPr>
            <p:ph type="ctrTitle"/>
          </p:nvPr>
        </p:nvSpPr>
        <p:spPr>
          <a:xfrm>
            <a:off x="2009775" y="2181226"/>
            <a:ext cx="9494837" cy="2596156"/>
          </a:xfrm>
        </p:spPr>
        <p:txBody>
          <a:bodyPr/>
          <a:lstStyle/>
          <a:p>
            <a:r>
              <a:rPr lang="en-US" dirty="0"/>
              <a:t>GLOBALMART_SALES_DATA PROJECT</a:t>
            </a:r>
            <a:endParaRPr lang="en-KE" dirty="0"/>
          </a:p>
        </p:txBody>
      </p:sp>
      <p:sp>
        <p:nvSpPr>
          <p:cNvPr id="4" name="TextBox 3">
            <a:extLst>
              <a:ext uri="{FF2B5EF4-FFF2-40B4-BE49-F238E27FC236}">
                <a16:creationId xmlns:a16="http://schemas.microsoft.com/office/drawing/2014/main" id="{2A72EECD-1AFC-4EC6-A904-C7A88B42F59C}"/>
              </a:ext>
            </a:extLst>
          </p:cNvPr>
          <p:cNvSpPr txBox="1"/>
          <p:nvPr/>
        </p:nvSpPr>
        <p:spPr>
          <a:xfrm>
            <a:off x="6981825" y="5905500"/>
            <a:ext cx="4352925" cy="369332"/>
          </a:xfrm>
          <a:prstGeom prst="rect">
            <a:avLst/>
          </a:prstGeom>
          <a:noFill/>
        </p:spPr>
        <p:txBody>
          <a:bodyPr wrap="square" rtlCol="0">
            <a:spAutoFit/>
          </a:bodyPr>
          <a:lstStyle/>
          <a:p>
            <a:r>
              <a:rPr lang="en-US" dirty="0"/>
              <a:t>BY: SHALOM WANJIRU WAINAINA</a:t>
            </a:r>
            <a:endParaRPr lang="en-KE" dirty="0"/>
          </a:p>
        </p:txBody>
      </p:sp>
      <p:pic>
        <p:nvPicPr>
          <p:cNvPr id="6" name="Picture 5">
            <a:extLst>
              <a:ext uri="{FF2B5EF4-FFF2-40B4-BE49-F238E27FC236}">
                <a16:creationId xmlns:a16="http://schemas.microsoft.com/office/drawing/2014/main" id="{3F00D612-5F83-4C6A-871F-605E8C9C37F0}"/>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10901362" y="5724451"/>
            <a:ext cx="866775" cy="605388"/>
          </a:xfrm>
          <a:prstGeom prst="rect">
            <a:avLst/>
          </a:prstGeom>
        </p:spPr>
      </p:pic>
    </p:spTree>
    <p:extLst>
      <p:ext uri="{BB962C8B-B14F-4D97-AF65-F5344CB8AC3E}">
        <p14:creationId xmlns:p14="http://schemas.microsoft.com/office/powerpoint/2010/main" val="2593394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C92AE-A53D-44BF-99E2-072FEB1C0C53}"/>
              </a:ext>
            </a:extLst>
          </p:cNvPr>
          <p:cNvSpPr>
            <a:spLocks noGrp="1"/>
          </p:cNvSpPr>
          <p:nvPr>
            <p:ph type="title"/>
          </p:nvPr>
        </p:nvSpPr>
        <p:spPr/>
        <p:txBody>
          <a:bodyPr/>
          <a:lstStyle/>
          <a:p>
            <a:r>
              <a:rPr lang="en-US" dirty="0"/>
              <a:t>SCOPE</a:t>
            </a:r>
            <a:endParaRPr lang="en-KE" dirty="0"/>
          </a:p>
        </p:txBody>
      </p:sp>
      <p:sp>
        <p:nvSpPr>
          <p:cNvPr id="3" name="Content Placeholder 2">
            <a:extLst>
              <a:ext uri="{FF2B5EF4-FFF2-40B4-BE49-F238E27FC236}">
                <a16:creationId xmlns:a16="http://schemas.microsoft.com/office/drawing/2014/main" id="{8054A210-EEC0-4062-8517-3A4AD6236507}"/>
              </a:ext>
            </a:extLst>
          </p:cNvPr>
          <p:cNvSpPr>
            <a:spLocks noGrp="1"/>
          </p:cNvSpPr>
          <p:nvPr>
            <p:ph idx="1"/>
          </p:nvPr>
        </p:nvSpPr>
        <p:spPr/>
        <p:txBody>
          <a:bodyPr/>
          <a:lstStyle/>
          <a:p>
            <a:r>
              <a:rPr lang="en-US" dirty="0"/>
              <a:t>STUDY QUESTIONS</a:t>
            </a:r>
          </a:p>
          <a:p>
            <a:r>
              <a:rPr lang="en-US" dirty="0"/>
              <a:t>CRISP-DM Methodology</a:t>
            </a:r>
          </a:p>
          <a:p>
            <a:r>
              <a:rPr lang="en-US" dirty="0"/>
              <a:t>VISUALIZATIONS</a:t>
            </a:r>
          </a:p>
          <a:p>
            <a:r>
              <a:rPr lang="en-US" dirty="0"/>
              <a:t>RECOMMENDATIONS</a:t>
            </a:r>
          </a:p>
          <a:p>
            <a:r>
              <a:rPr lang="en-US" dirty="0"/>
              <a:t>CONCLUSION</a:t>
            </a:r>
            <a:endParaRPr lang="en-KE" dirty="0"/>
          </a:p>
        </p:txBody>
      </p:sp>
    </p:spTree>
    <p:extLst>
      <p:ext uri="{BB962C8B-B14F-4D97-AF65-F5344CB8AC3E}">
        <p14:creationId xmlns:p14="http://schemas.microsoft.com/office/powerpoint/2010/main" val="3884954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E68FED6-5CE2-4734-AA9A-AE74B0C2C1FD}"/>
              </a:ext>
            </a:extLst>
          </p:cNvPr>
          <p:cNvSpPr>
            <a:spLocks noGrp="1"/>
          </p:cNvSpPr>
          <p:nvPr>
            <p:ph type="title"/>
          </p:nvPr>
        </p:nvSpPr>
        <p:spPr/>
        <p:txBody>
          <a:bodyPr/>
          <a:lstStyle/>
          <a:p>
            <a:r>
              <a:rPr lang="en-US" dirty="0"/>
              <a:t>STUDY QUESTIONS  </a:t>
            </a:r>
            <a:endParaRPr lang="en-KE" dirty="0"/>
          </a:p>
        </p:txBody>
      </p:sp>
      <p:sp>
        <p:nvSpPr>
          <p:cNvPr id="6" name="Content Placeholder 5">
            <a:extLst>
              <a:ext uri="{FF2B5EF4-FFF2-40B4-BE49-F238E27FC236}">
                <a16:creationId xmlns:a16="http://schemas.microsoft.com/office/drawing/2014/main" id="{68E254E1-AA65-4192-B388-6CF7A7FE3519}"/>
              </a:ext>
            </a:extLst>
          </p:cNvPr>
          <p:cNvSpPr>
            <a:spLocks noGrp="1"/>
          </p:cNvSpPr>
          <p:nvPr>
            <p:ph sz="half" idx="1"/>
          </p:nvPr>
        </p:nvSpPr>
        <p:spPr/>
        <p:txBody>
          <a:bodyPr/>
          <a:lstStyle/>
          <a:p>
            <a:r>
              <a:rPr lang="en-US" dirty="0"/>
              <a:t>Which regions and product categories are under performing in terms of sales and profit?</a:t>
            </a:r>
          </a:p>
          <a:p>
            <a:r>
              <a:rPr lang="en-US" dirty="0"/>
              <a:t>What product category contribute the most to profitability, and which are dragging it down per region?</a:t>
            </a:r>
          </a:p>
          <a:p>
            <a:pPr marL="0" indent="0">
              <a:buNone/>
            </a:pPr>
            <a:endParaRPr lang="en-US" dirty="0"/>
          </a:p>
        </p:txBody>
      </p:sp>
      <p:sp>
        <p:nvSpPr>
          <p:cNvPr id="7" name="Content Placeholder 6">
            <a:extLst>
              <a:ext uri="{FF2B5EF4-FFF2-40B4-BE49-F238E27FC236}">
                <a16:creationId xmlns:a16="http://schemas.microsoft.com/office/drawing/2014/main" id="{5361431A-7D8D-48CA-BC2B-3CE72678F330}"/>
              </a:ext>
            </a:extLst>
          </p:cNvPr>
          <p:cNvSpPr>
            <a:spLocks noGrp="1"/>
          </p:cNvSpPr>
          <p:nvPr>
            <p:ph sz="half" idx="2"/>
          </p:nvPr>
        </p:nvSpPr>
        <p:spPr/>
        <p:txBody>
          <a:bodyPr/>
          <a:lstStyle/>
          <a:p>
            <a:r>
              <a:rPr lang="en-US" dirty="0"/>
              <a:t>Is the company’s sales growth sustainable compared to previous years?</a:t>
            </a:r>
          </a:p>
          <a:p>
            <a:r>
              <a:rPr lang="en-US" dirty="0"/>
              <a:t>How can the insights driven help in optimizing resource allocation and decision making?</a:t>
            </a:r>
            <a:endParaRPr lang="en-KE" dirty="0"/>
          </a:p>
        </p:txBody>
      </p:sp>
      <p:pic>
        <p:nvPicPr>
          <p:cNvPr id="9" name="Picture 8">
            <a:extLst>
              <a:ext uri="{FF2B5EF4-FFF2-40B4-BE49-F238E27FC236}">
                <a16:creationId xmlns:a16="http://schemas.microsoft.com/office/drawing/2014/main" id="{FF0C273B-6063-43B0-9FE6-094BC88DF533}"/>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8772525" y="624110"/>
            <a:ext cx="1219200" cy="914400"/>
          </a:xfrm>
          <a:prstGeom prst="rect">
            <a:avLst/>
          </a:prstGeom>
        </p:spPr>
      </p:pic>
    </p:spTree>
    <p:extLst>
      <p:ext uri="{BB962C8B-B14F-4D97-AF65-F5344CB8AC3E}">
        <p14:creationId xmlns:p14="http://schemas.microsoft.com/office/powerpoint/2010/main" val="5482058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E3CF2-A677-46E2-B759-6A146D255465}"/>
              </a:ext>
            </a:extLst>
          </p:cNvPr>
          <p:cNvSpPr>
            <a:spLocks noGrp="1"/>
          </p:cNvSpPr>
          <p:nvPr>
            <p:ph type="title"/>
          </p:nvPr>
        </p:nvSpPr>
        <p:spPr/>
        <p:txBody>
          <a:bodyPr/>
          <a:lstStyle/>
          <a:p>
            <a:r>
              <a:rPr lang="en-US" dirty="0"/>
              <a:t>CRISP-DM Framework in the GlobalMart Sales Performance</a:t>
            </a:r>
            <a:endParaRPr lang="en-KE" dirty="0"/>
          </a:p>
        </p:txBody>
      </p:sp>
      <p:sp>
        <p:nvSpPr>
          <p:cNvPr id="3" name="Content Placeholder 2">
            <a:extLst>
              <a:ext uri="{FF2B5EF4-FFF2-40B4-BE49-F238E27FC236}">
                <a16:creationId xmlns:a16="http://schemas.microsoft.com/office/drawing/2014/main" id="{3C0304F7-AEEF-436B-8BE5-EAC169079845}"/>
              </a:ext>
            </a:extLst>
          </p:cNvPr>
          <p:cNvSpPr>
            <a:spLocks noGrp="1"/>
          </p:cNvSpPr>
          <p:nvPr>
            <p:ph idx="1"/>
          </p:nvPr>
        </p:nvSpPr>
        <p:spPr>
          <a:xfrm>
            <a:off x="1409701" y="2076450"/>
            <a:ext cx="10094912" cy="4324350"/>
          </a:xfrm>
        </p:spPr>
        <p:txBody>
          <a:bodyPr>
            <a:normAutofit fontScale="92500" lnSpcReduction="20000"/>
          </a:bodyPr>
          <a:lstStyle/>
          <a:p>
            <a:r>
              <a:rPr lang="en-US" dirty="0"/>
              <a:t>The CRISP-DM methodology provides a structured, repeatable approach to solving business problems using data. It consists of six phases, which guide the entire data analysis journey:</a:t>
            </a:r>
          </a:p>
          <a:p>
            <a:pPr>
              <a:buFont typeface="+mj-lt"/>
              <a:buAutoNum type="arabicPeriod"/>
            </a:pPr>
            <a:r>
              <a:rPr lang="en-US" dirty="0"/>
              <a:t>Business Understanding</a:t>
            </a:r>
          </a:p>
          <a:p>
            <a:pPr>
              <a:buFont typeface="+mj-lt"/>
              <a:buAutoNum type="arabicPeriod"/>
            </a:pPr>
            <a:r>
              <a:rPr lang="en-US" dirty="0"/>
              <a:t>Data Understanding</a:t>
            </a:r>
          </a:p>
          <a:p>
            <a:pPr>
              <a:buFont typeface="+mj-lt"/>
              <a:buAutoNum type="arabicPeriod"/>
            </a:pPr>
            <a:r>
              <a:rPr lang="en-US" dirty="0"/>
              <a:t>Data Preparation</a:t>
            </a:r>
          </a:p>
          <a:p>
            <a:pPr>
              <a:buFont typeface="+mj-lt"/>
              <a:buAutoNum type="arabicPeriod"/>
            </a:pPr>
            <a:r>
              <a:rPr lang="en-US" dirty="0"/>
              <a:t>Modeling</a:t>
            </a:r>
          </a:p>
          <a:p>
            <a:pPr>
              <a:buFont typeface="+mj-lt"/>
              <a:buAutoNum type="arabicPeriod"/>
            </a:pPr>
            <a:r>
              <a:rPr lang="en-US" dirty="0"/>
              <a:t>Evaluation</a:t>
            </a:r>
          </a:p>
          <a:p>
            <a:pPr>
              <a:buFont typeface="+mj-lt"/>
              <a:buAutoNum type="arabicPeriod"/>
            </a:pPr>
            <a:r>
              <a:rPr lang="en-US" dirty="0"/>
              <a:t>Deployment</a:t>
            </a:r>
          </a:p>
          <a:p>
            <a:r>
              <a:rPr lang="en-US" dirty="0"/>
              <a:t>GlobalMart_Sales_Data Performance Analysis capstone project. In this project, I applied the CRISP-DM methodology, a structured process for data mining and analytics, to evaluate sales and profit performance per region, state and category. </a:t>
            </a:r>
          </a:p>
          <a:p>
            <a:r>
              <a:rPr lang="en-US" dirty="0"/>
              <a:t>The goal is to generate actionable insights that help GlobalMart grow and remain competitive in the market.</a:t>
            </a:r>
          </a:p>
          <a:p>
            <a:endParaRPr lang="en-KE" dirty="0"/>
          </a:p>
        </p:txBody>
      </p:sp>
    </p:spTree>
    <p:extLst>
      <p:ext uri="{BB962C8B-B14F-4D97-AF65-F5344CB8AC3E}">
        <p14:creationId xmlns:p14="http://schemas.microsoft.com/office/powerpoint/2010/main" val="8315800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042EA-4D0B-4D83-A623-FF82D6370069}"/>
              </a:ext>
            </a:extLst>
          </p:cNvPr>
          <p:cNvSpPr>
            <a:spLocks noGrp="1"/>
          </p:cNvSpPr>
          <p:nvPr>
            <p:ph type="title"/>
          </p:nvPr>
        </p:nvSpPr>
        <p:spPr>
          <a:xfrm>
            <a:off x="2592925" y="624110"/>
            <a:ext cx="5941475" cy="1280890"/>
          </a:xfrm>
        </p:spPr>
        <p:txBody>
          <a:bodyPr>
            <a:normAutofit/>
          </a:bodyPr>
          <a:lstStyle/>
          <a:p>
            <a:pPr algn="ctr"/>
            <a:r>
              <a:rPr lang="en-US" sz="3200" dirty="0"/>
              <a:t>BUSINESS UNDERSTANDING &amp; OBJECTIVES</a:t>
            </a:r>
            <a:endParaRPr lang="en-KE" sz="3200" dirty="0"/>
          </a:p>
        </p:txBody>
      </p:sp>
      <p:sp>
        <p:nvSpPr>
          <p:cNvPr id="6" name="Content Placeholder 5">
            <a:extLst>
              <a:ext uri="{FF2B5EF4-FFF2-40B4-BE49-F238E27FC236}">
                <a16:creationId xmlns:a16="http://schemas.microsoft.com/office/drawing/2014/main" id="{D9291262-D139-49FF-ADB9-E0EF3CEE01EE}"/>
              </a:ext>
            </a:extLst>
          </p:cNvPr>
          <p:cNvSpPr>
            <a:spLocks noGrp="1"/>
          </p:cNvSpPr>
          <p:nvPr>
            <p:ph idx="1"/>
          </p:nvPr>
        </p:nvSpPr>
        <p:spPr>
          <a:xfrm>
            <a:off x="1466850" y="2172576"/>
            <a:ext cx="10037762" cy="4475874"/>
          </a:xfrm>
        </p:spPr>
        <p:txBody>
          <a:bodyPr>
            <a:normAutofit/>
          </a:bodyPr>
          <a:lstStyle/>
          <a:p>
            <a:r>
              <a:rPr lang="en-US" sz="1700" dirty="0"/>
              <a:t>GlobalMart is a multinational retail company operating across diverse product categories such as Furniture, Office Supplies, and Technology. Despite having a wide market reach and growing sales volume, the company faces inconsistent profitability across regions and products categories. The goals of this analysis it to;</a:t>
            </a:r>
          </a:p>
          <a:p>
            <a:pPr>
              <a:buFont typeface="Arial" panose="020B0604020202020204" pitchFamily="34" charset="0"/>
              <a:buChar char="•"/>
            </a:pPr>
            <a:r>
              <a:rPr lang="en-US" sz="1700" dirty="0"/>
              <a:t>Identify key drivers of sales and profit performance across different regions and product categories.</a:t>
            </a:r>
          </a:p>
          <a:p>
            <a:pPr>
              <a:buFont typeface="Arial" panose="020B0604020202020204" pitchFamily="34" charset="0"/>
              <a:buChar char="•"/>
            </a:pPr>
            <a:r>
              <a:rPr lang="en-US" sz="1700" dirty="0"/>
              <a:t>Uncover sales trends over time to evaluate growth sustainability.</a:t>
            </a:r>
          </a:p>
          <a:p>
            <a:pPr>
              <a:buFont typeface="Arial" panose="020B0604020202020204" pitchFamily="34" charset="0"/>
              <a:buChar char="•"/>
            </a:pPr>
            <a:r>
              <a:rPr lang="en-US" sz="1700" dirty="0"/>
              <a:t>Detect underperforming areas where declining profit margins or slow sales growth may hinder company objectives.</a:t>
            </a:r>
          </a:p>
          <a:p>
            <a:pPr>
              <a:buFont typeface="Arial" panose="020B0604020202020204" pitchFamily="34" charset="0"/>
              <a:buChar char="•"/>
            </a:pPr>
            <a:r>
              <a:rPr lang="en-US" sz="1700" dirty="0"/>
              <a:t>Provide actionable insights that will support GlobalMart’s goal of making data-driven decisions to optimize sales performance and profitability.</a:t>
            </a:r>
          </a:p>
          <a:p>
            <a:r>
              <a:rPr lang="en-US" sz="1700" dirty="0"/>
              <a:t>The analysis will empower stakeholders to make strategic business decisions regarding resource allocation, regional strategies, and product focus, ultimately driving growth and improving profitability.</a:t>
            </a:r>
          </a:p>
          <a:p>
            <a:endParaRPr lang="en-KE" dirty="0"/>
          </a:p>
        </p:txBody>
      </p:sp>
      <p:pic>
        <p:nvPicPr>
          <p:cNvPr id="8" name="Picture 7">
            <a:extLst>
              <a:ext uri="{FF2B5EF4-FFF2-40B4-BE49-F238E27FC236}">
                <a16:creationId xmlns:a16="http://schemas.microsoft.com/office/drawing/2014/main" id="{3120B0DD-3427-4A60-B302-0975D415D61B}"/>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9495199" y="356534"/>
            <a:ext cx="1256401" cy="1418269"/>
          </a:xfrm>
          <a:prstGeom prst="rect">
            <a:avLst/>
          </a:prstGeom>
        </p:spPr>
      </p:pic>
    </p:spTree>
    <p:extLst>
      <p:ext uri="{BB962C8B-B14F-4D97-AF65-F5344CB8AC3E}">
        <p14:creationId xmlns:p14="http://schemas.microsoft.com/office/powerpoint/2010/main" val="12050124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670C4-8B80-4C67-8FDA-F1564B39F7BF}"/>
              </a:ext>
            </a:extLst>
          </p:cNvPr>
          <p:cNvSpPr>
            <a:spLocks noGrp="1"/>
          </p:cNvSpPr>
          <p:nvPr>
            <p:ph type="title"/>
          </p:nvPr>
        </p:nvSpPr>
        <p:spPr/>
        <p:txBody>
          <a:bodyPr/>
          <a:lstStyle/>
          <a:p>
            <a:pPr algn="ctr"/>
            <a:r>
              <a:rPr lang="en-US" dirty="0"/>
              <a:t>DATA UNDERSTANDING</a:t>
            </a:r>
            <a:endParaRPr lang="en-KE" dirty="0"/>
          </a:p>
        </p:txBody>
      </p:sp>
      <p:sp>
        <p:nvSpPr>
          <p:cNvPr id="3" name="Content Placeholder 2">
            <a:extLst>
              <a:ext uri="{FF2B5EF4-FFF2-40B4-BE49-F238E27FC236}">
                <a16:creationId xmlns:a16="http://schemas.microsoft.com/office/drawing/2014/main" id="{E532F2E7-8C8E-476F-B275-DE28ED1FDC69}"/>
              </a:ext>
            </a:extLst>
          </p:cNvPr>
          <p:cNvSpPr>
            <a:spLocks noGrp="1"/>
          </p:cNvSpPr>
          <p:nvPr>
            <p:ph idx="1"/>
          </p:nvPr>
        </p:nvSpPr>
        <p:spPr>
          <a:xfrm>
            <a:off x="2286000" y="2047875"/>
            <a:ext cx="9218612" cy="3863347"/>
          </a:xfrm>
        </p:spPr>
        <p:txBody>
          <a:bodyPr>
            <a:normAutofit fontScale="92500"/>
          </a:bodyPr>
          <a:lstStyle/>
          <a:p>
            <a:r>
              <a:rPr lang="en-US" dirty="0"/>
              <a:t>In the data understanding phase, the </a:t>
            </a:r>
            <a:r>
              <a:rPr lang="en-US" dirty="0" err="1"/>
              <a:t>GlobalMart</a:t>
            </a:r>
            <a:r>
              <a:rPr lang="en-US" dirty="0"/>
              <a:t> sales dataset was carefully examined to assess its quality and suitability for analysis. The process involved:</a:t>
            </a:r>
          </a:p>
          <a:p>
            <a:pPr>
              <a:buFont typeface="+mj-lt"/>
              <a:buAutoNum type="arabicPeriod"/>
            </a:pPr>
            <a:r>
              <a:rPr lang="en-US" dirty="0"/>
              <a:t>Data Cleaning: Removed blank rows and corrected errors to ensure data consistency.</a:t>
            </a:r>
          </a:p>
          <a:p>
            <a:pPr>
              <a:buFont typeface="+mj-lt"/>
              <a:buAutoNum type="arabicPeriod"/>
            </a:pPr>
            <a:r>
              <a:rPr lang="en-US" dirty="0"/>
              <a:t>Standardization: Reformatted the Region column to proper case for uniformity.</a:t>
            </a:r>
          </a:p>
          <a:p>
            <a:pPr>
              <a:buFont typeface="+mj-lt"/>
              <a:buAutoNum type="arabicPeriod"/>
            </a:pPr>
            <a:r>
              <a:rPr lang="en-US" dirty="0"/>
              <a:t>Outlier Treatment: Analyzed extreme values in the Sales column. One sale of 500,000 was retained for calculation checks, while other unrealistic outliers were removed by filtering.</a:t>
            </a:r>
          </a:p>
          <a:p>
            <a:pPr>
              <a:buFont typeface="+mj-lt"/>
              <a:buAutoNum type="arabicPeriod"/>
            </a:pPr>
            <a:r>
              <a:rPr lang="en-US" dirty="0"/>
              <a:t>Filtering &amp; Validation: Ensured that only valid and relevant records were included for analysis.</a:t>
            </a:r>
          </a:p>
          <a:p>
            <a:pPr marL="0" indent="0">
              <a:buNone/>
            </a:pPr>
            <a:r>
              <a:rPr lang="en-US" dirty="0"/>
              <a:t>This steps established a reliable and accurate dataset, forming the foundation for building trustworthy insights and visualizations.</a:t>
            </a:r>
            <a:endParaRPr lang="en-KE" dirty="0"/>
          </a:p>
        </p:txBody>
      </p:sp>
    </p:spTree>
    <p:extLst>
      <p:ext uri="{BB962C8B-B14F-4D97-AF65-F5344CB8AC3E}">
        <p14:creationId xmlns:p14="http://schemas.microsoft.com/office/powerpoint/2010/main" val="477262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13BA9-73AD-440F-8A05-BD8F6C2C402B}"/>
              </a:ext>
            </a:extLst>
          </p:cNvPr>
          <p:cNvSpPr>
            <a:spLocks noGrp="1"/>
          </p:cNvSpPr>
          <p:nvPr>
            <p:ph type="title"/>
          </p:nvPr>
        </p:nvSpPr>
        <p:spPr/>
        <p:txBody>
          <a:bodyPr/>
          <a:lstStyle/>
          <a:p>
            <a:pPr algn="ctr"/>
            <a:r>
              <a:rPr lang="en-US" dirty="0"/>
              <a:t>DATA PREPARATION</a:t>
            </a:r>
            <a:endParaRPr lang="en-KE" dirty="0"/>
          </a:p>
        </p:txBody>
      </p:sp>
      <p:sp>
        <p:nvSpPr>
          <p:cNvPr id="3" name="Content Placeholder 2">
            <a:extLst>
              <a:ext uri="{FF2B5EF4-FFF2-40B4-BE49-F238E27FC236}">
                <a16:creationId xmlns:a16="http://schemas.microsoft.com/office/drawing/2014/main" id="{1C86B16B-464E-455E-84EA-CE3E7334974A}"/>
              </a:ext>
            </a:extLst>
          </p:cNvPr>
          <p:cNvSpPr>
            <a:spLocks noGrp="1"/>
          </p:cNvSpPr>
          <p:nvPr>
            <p:ph idx="1"/>
          </p:nvPr>
        </p:nvSpPr>
        <p:spPr>
          <a:xfrm>
            <a:off x="2589212" y="1652337"/>
            <a:ext cx="8915400" cy="4828673"/>
          </a:xfrm>
        </p:spPr>
        <p:txBody>
          <a:bodyPr>
            <a:normAutofit fontScale="92500" lnSpcReduction="20000"/>
          </a:bodyPr>
          <a:lstStyle/>
          <a:p>
            <a:r>
              <a:rPr lang="en-US" dirty="0"/>
              <a:t>Data Cleaning &amp; Structuring; Removed duplicates, standardized formats, and validated column values. Reformatted categorical fields (Region, Category) for consistency.</a:t>
            </a:r>
          </a:p>
          <a:p>
            <a:pPr>
              <a:buFont typeface="Wingdings" panose="05000000000000000000" pitchFamily="2" charset="2"/>
              <a:buChar char="Ø"/>
            </a:pPr>
            <a:r>
              <a:rPr lang="en-US" dirty="0"/>
              <a:t>Feature Engineering; Created calculated columns:</a:t>
            </a:r>
          </a:p>
          <a:p>
            <a:pPr marL="400050" indent="-400050">
              <a:buFont typeface="+mj-lt"/>
              <a:buAutoNum type="arabicPeriod"/>
            </a:pPr>
            <a:r>
              <a:rPr lang="en-US" dirty="0"/>
              <a:t>Unit Price = Sales ÷ Quantity</a:t>
            </a:r>
          </a:p>
          <a:p>
            <a:pPr marL="400050" indent="-400050">
              <a:buFont typeface="+mj-lt"/>
              <a:buAutoNum type="arabicPeriod"/>
            </a:pPr>
            <a:r>
              <a:rPr lang="en-US" dirty="0"/>
              <a:t>Profit = Sales – Cost (derived using business rules)</a:t>
            </a:r>
          </a:p>
          <a:p>
            <a:pPr marL="400050" indent="-400050">
              <a:buFont typeface="+mj-lt"/>
              <a:buAutoNum type="arabicPeriod"/>
            </a:pPr>
            <a:r>
              <a:rPr lang="en-US" dirty="0"/>
              <a:t>Profit Margin % = Profit ÷ Sales</a:t>
            </a:r>
          </a:p>
          <a:p>
            <a:pPr marL="400050" indent="-400050">
              <a:buFont typeface="+mj-lt"/>
              <a:buAutoNum type="arabicPeriod"/>
            </a:pPr>
            <a:r>
              <a:rPr lang="en-US" dirty="0"/>
              <a:t>Month &amp; Year columns extracted from the Date field</a:t>
            </a:r>
          </a:p>
          <a:p>
            <a:pPr>
              <a:buFont typeface="Wingdings" panose="05000000000000000000" pitchFamily="2" charset="2"/>
              <a:buChar char="Ø"/>
            </a:pPr>
            <a:r>
              <a:rPr lang="en-US" dirty="0"/>
              <a:t>Time Intelligence Support; Built a Date Table to enable calculations like YTD, PY, and YoY Growth </a:t>
            </a:r>
          </a:p>
          <a:p>
            <a:pPr>
              <a:buFont typeface="Wingdings" panose="05000000000000000000" pitchFamily="2" charset="2"/>
              <a:buChar char="Ø"/>
            </a:pPr>
            <a:r>
              <a:rPr lang="en-US" dirty="0"/>
              <a:t>Measure Creation (DAX); </a:t>
            </a:r>
          </a:p>
          <a:p>
            <a:pPr>
              <a:buFont typeface="Arial" panose="020B0604020202020204" pitchFamily="34" charset="0"/>
              <a:buChar char="•"/>
            </a:pPr>
            <a:r>
              <a:rPr lang="en-US" dirty="0"/>
              <a:t>Total Sales, Total Profit, Order Total</a:t>
            </a:r>
          </a:p>
          <a:p>
            <a:pPr>
              <a:buFont typeface="Arial" panose="020B0604020202020204" pitchFamily="34" charset="0"/>
              <a:buChar char="•"/>
            </a:pPr>
            <a:r>
              <a:rPr lang="en-US" dirty="0"/>
              <a:t>Sales Growth %, Profit Margin %, YoY growth </a:t>
            </a:r>
          </a:p>
          <a:p>
            <a:pPr>
              <a:buFont typeface="Arial" panose="020B0604020202020204" pitchFamily="34" charset="0"/>
              <a:buChar char="•"/>
            </a:pPr>
            <a:r>
              <a:rPr lang="en-US" dirty="0"/>
              <a:t>Cumulative Sales and Profit trends</a:t>
            </a:r>
          </a:p>
          <a:p>
            <a:pPr marL="0" indent="0">
              <a:buNone/>
            </a:pPr>
            <a:r>
              <a:rPr lang="en-US" dirty="0"/>
              <a:t>The dataset was fully prepared to support both descriptive and time-based analysis.</a:t>
            </a:r>
            <a:endParaRPr lang="en-KE" dirty="0"/>
          </a:p>
        </p:txBody>
      </p:sp>
    </p:spTree>
    <p:extLst>
      <p:ext uri="{BB962C8B-B14F-4D97-AF65-F5344CB8AC3E}">
        <p14:creationId xmlns:p14="http://schemas.microsoft.com/office/powerpoint/2010/main" val="19287165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9D002-2520-4B2B-83F8-E4431D9F62A3}"/>
              </a:ext>
            </a:extLst>
          </p:cNvPr>
          <p:cNvSpPr>
            <a:spLocks noGrp="1"/>
          </p:cNvSpPr>
          <p:nvPr>
            <p:ph type="title"/>
          </p:nvPr>
        </p:nvSpPr>
        <p:spPr/>
        <p:txBody>
          <a:bodyPr/>
          <a:lstStyle/>
          <a:p>
            <a:pPr algn="ctr"/>
            <a:r>
              <a:rPr lang="en-US" dirty="0"/>
              <a:t>MODELLING</a:t>
            </a:r>
            <a:endParaRPr lang="en-KE" dirty="0"/>
          </a:p>
        </p:txBody>
      </p:sp>
      <p:sp>
        <p:nvSpPr>
          <p:cNvPr id="3" name="Content Placeholder 2">
            <a:extLst>
              <a:ext uri="{FF2B5EF4-FFF2-40B4-BE49-F238E27FC236}">
                <a16:creationId xmlns:a16="http://schemas.microsoft.com/office/drawing/2014/main" id="{BE656E3A-9B97-4F0F-B5FF-32EA6477B831}"/>
              </a:ext>
            </a:extLst>
          </p:cNvPr>
          <p:cNvSpPr>
            <a:spLocks noGrp="1"/>
          </p:cNvSpPr>
          <p:nvPr>
            <p:ph idx="1"/>
          </p:nvPr>
        </p:nvSpPr>
        <p:spPr>
          <a:xfrm>
            <a:off x="1844842" y="1905000"/>
            <a:ext cx="9659770" cy="4752474"/>
          </a:xfrm>
        </p:spPr>
        <p:txBody>
          <a:bodyPr/>
          <a:lstStyle/>
          <a:p>
            <a:r>
              <a:rPr lang="en-US" dirty="0"/>
              <a:t>In this phase of the CRISPDM Methodology, I did KPI development, Trend and Comparative Modeling and segmentation &amp; contribution analysis.</a:t>
            </a:r>
          </a:p>
          <a:p>
            <a:pPr>
              <a:buFont typeface="Wingdings" panose="05000000000000000000" pitchFamily="2" charset="2"/>
              <a:buChar char="Ø"/>
            </a:pPr>
            <a:r>
              <a:rPr lang="en-US" dirty="0"/>
              <a:t>KPI Development; Designed core performance measures: Sales, Profit, Profit Margin, YoY Growth. Enabled drill-downs by Category, Region, and Customer</a:t>
            </a:r>
          </a:p>
          <a:p>
            <a:pPr>
              <a:buFont typeface="Wingdings" panose="05000000000000000000" pitchFamily="2" charset="2"/>
              <a:buChar char="Ø"/>
            </a:pPr>
            <a:r>
              <a:rPr lang="en-US" dirty="0"/>
              <a:t>Trend &amp; Comparative Modeling; Time-series analysis: Sales &amp; Profit YTD, PY, and cumulative performance. Comparative dashboards: Sales vs Profit, Sales Growth % vs Profit Margin %.</a:t>
            </a:r>
          </a:p>
          <a:p>
            <a:pPr>
              <a:buFont typeface="Wingdings" panose="05000000000000000000" pitchFamily="2" charset="2"/>
              <a:buChar char="Ø"/>
            </a:pPr>
            <a:r>
              <a:rPr lang="en-US" dirty="0"/>
              <a:t>Segmentation &amp; Contribution Analysis; Analyzed contribution of Regions, States, and Product Categories. Highlighted top-performing and underperforming segments</a:t>
            </a:r>
            <a:endParaRPr lang="en-KE" dirty="0"/>
          </a:p>
        </p:txBody>
      </p:sp>
    </p:spTree>
    <p:extLst>
      <p:ext uri="{BB962C8B-B14F-4D97-AF65-F5344CB8AC3E}">
        <p14:creationId xmlns:p14="http://schemas.microsoft.com/office/powerpoint/2010/main" val="30004527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DE8BE-E361-4275-9E3A-888033E58FEE}"/>
              </a:ext>
            </a:extLst>
          </p:cNvPr>
          <p:cNvSpPr>
            <a:spLocks noGrp="1"/>
          </p:cNvSpPr>
          <p:nvPr>
            <p:ph type="title"/>
          </p:nvPr>
        </p:nvSpPr>
        <p:spPr/>
        <p:txBody>
          <a:bodyPr/>
          <a:lstStyle/>
          <a:p>
            <a:pPr algn="ctr"/>
            <a:r>
              <a:rPr lang="en-US" dirty="0"/>
              <a:t>EVALUATION</a:t>
            </a:r>
            <a:endParaRPr lang="en-KE" dirty="0"/>
          </a:p>
        </p:txBody>
      </p:sp>
      <p:sp>
        <p:nvSpPr>
          <p:cNvPr id="3" name="Content Placeholder 2">
            <a:extLst>
              <a:ext uri="{FF2B5EF4-FFF2-40B4-BE49-F238E27FC236}">
                <a16:creationId xmlns:a16="http://schemas.microsoft.com/office/drawing/2014/main" id="{5A73322C-0BFF-4536-A3DF-58210F4D041D}"/>
              </a:ext>
            </a:extLst>
          </p:cNvPr>
          <p:cNvSpPr>
            <a:spLocks noGrp="1"/>
          </p:cNvSpPr>
          <p:nvPr>
            <p:ph idx="1"/>
          </p:nvPr>
        </p:nvSpPr>
        <p:spPr>
          <a:xfrm>
            <a:off x="2324100" y="1743075"/>
            <a:ext cx="9180512" cy="4168147"/>
          </a:xfrm>
        </p:spPr>
        <p:txBody>
          <a:bodyPr/>
          <a:lstStyle/>
          <a:p>
            <a:r>
              <a:rPr lang="en-US" dirty="0"/>
              <a:t>The Evaluation phase ensures that the models and insights created truly address the business problem and meet </a:t>
            </a:r>
            <a:r>
              <a:rPr lang="en-US" dirty="0" err="1"/>
              <a:t>GlobalMart’s</a:t>
            </a:r>
            <a:r>
              <a:rPr lang="en-US" dirty="0"/>
              <a:t> business objectives. It is not just about checking accuracy but also about validating business relevance.</a:t>
            </a:r>
          </a:p>
          <a:p>
            <a:r>
              <a:rPr lang="en-US" dirty="0"/>
              <a:t>Review whether the created models. For example, Total Sales, Profit Margin %, YoY Growth – do they perform well and answer the business questions.</a:t>
            </a:r>
          </a:p>
          <a:p>
            <a:r>
              <a:rPr lang="en-US" dirty="0"/>
              <a:t>Verified that insights are understandable, actionable, and aligned with </a:t>
            </a:r>
            <a:r>
              <a:rPr lang="en-US" dirty="0" err="1"/>
              <a:t>GlobalMart’s</a:t>
            </a:r>
            <a:r>
              <a:rPr lang="en-US" dirty="0"/>
              <a:t> goals. For example, Regional performance dashboards should reveal which regions are profitable and where improvements are needed.</a:t>
            </a:r>
          </a:p>
          <a:p>
            <a:endParaRPr lang="en-KE" dirty="0"/>
          </a:p>
        </p:txBody>
      </p:sp>
    </p:spTree>
    <p:extLst>
      <p:ext uri="{BB962C8B-B14F-4D97-AF65-F5344CB8AC3E}">
        <p14:creationId xmlns:p14="http://schemas.microsoft.com/office/powerpoint/2010/main" val="24587756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BEB55-FBF4-4051-A7E1-7C5DDBCD48C5}"/>
              </a:ext>
            </a:extLst>
          </p:cNvPr>
          <p:cNvSpPr>
            <a:spLocks noGrp="1"/>
          </p:cNvSpPr>
          <p:nvPr>
            <p:ph type="title"/>
          </p:nvPr>
        </p:nvSpPr>
        <p:spPr>
          <a:xfrm>
            <a:off x="2429823" y="1317635"/>
            <a:ext cx="5001801" cy="751293"/>
          </a:xfrm>
        </p:spPr>
        <p:txBody>
          <a:bodyPr>
            <a:normAutofit/>
          </a:bodyPr>
          <a:lstStyle/>
          <a:p>
            <a:pPr algn="ctr"/>
            <a:r>
              <a:rPr lang="en-US" sz="2400" dirty="0"/>
              <a:t>TOTAL NET SALES PER REGION</a:t>
            </a:r>
            <a:endParaRPr lang="en-KE" sz="2400" dirty="0"/>
          </a:p>
        </p:txBody>
      </p:sp>
      <p:sp>
        <p:nvSpPr>
          <p:cNvPr id="3" name="Content Placeholder 2">
            <a:extLst>
              <a:ext uri="{FF2B5EF4-FFF2-40B4-BE49-F238E27FC236}">
                <a16:creationId xmlns:a16="http://schemas.microsoft.com/office/drawing/2014/main" id="{0D78AAAB-875C-45F5-A357-40F3282F6F1F}"/>
              </a:ext>
            </a:extLst>
          </p:cNvPr>
          <p:cNvSpPr>
            <a:spLocks noGrp="1"/>
          </p:cNvSpPr>
          <p:nvPr>
            <p:ph sz="half" idx="1"/>
          </p:nvPr>
        </p:nvSpPr>
        <p:spPr>
          <a:xfrm>
            <a:off x="1485900" y="2068928"/>
            <a:ext cx="5455276" cy="4164962"/>
          </a:xfrm>
        </p:spPr>
        <p:txBody>
          <a:bodyPr>
            <a:normAutofit lnSpcReduction="10000"/>
          </a:bodyPr>
          <a:lstStyle/>
          <a:p>
            <a:r>
              <a:rPr lang="en-US" dirty="0"/>
              <a:t>Balanced Distribution: Sales are more evenly distributed across all four regions, with South $128K-27.29%, Central $122K-25.87%, West $115K-24.36%, and East $106K-22.48% contributing fairly similar shares.</a:t>
            </a:r>
          </a:p>
          <a:p>
            <a:r>
              <a:rPr lang="en-US" dirty="0"/>
              <a:t>Opportunities Across All Regions: Each region now appears to contribute significantly, meaning that growth strategies can be applied more broadly instead of focusing only on one.</a:t>
            </a:r>
          </a:p>
          <a:p>
            <a:r>
              <a:rPr lang="en-US" dirty="0"/>
              <a:t>GlobalMart has a strong and fairly even regional presence, suggesting resilience and room for optimization in all regions rather than corrective action in just one.</a:t>
            </a:r>
            <a:endParaRPr lang="en-KE" dirty="0"/>
          </a:p>
        </p:txBody>
      </p:sp>
      <p:sp>
        <p:nvSpPr>
          <p:cNvPr id="7" name="TextBox 6">
            <a:extLst>
              <a:ext uri="{FF2B5EF4-FFF2-40B4-BE49-F238E27FC236}">
                <a16:creationId xmlns:a16="http://schemas.microsoft.com/office/drawing/2014/main" id="{4EB702BC-28C7-434C-93B9-2C197B9716E8}"/>
              </a:ext>
            </a:extLst>
          </p:cNvPr>
          <p:cNvSpPr txBox="1"/>
          <p:nvPr/>
        </p:nvSpPr>
        <p:spPr>
          <a:xfrm>
            <a:off x="2354799" y="603876"/>
            <a:ext cx="5076825" cy="584775"/>
          </a:xfrm>
          <a:prstGeom prst="rect">
            <a:avLst/>
          </a:prstGeom>
          <a:noFill/>
        </p:spPr>
        <p:txBody>
          <a:bodyPr wrap="square" rtlCol="0">
            <a:spAutoFit/>
          </a:bodyPr>
          <a:lstStyle/>
          <a:p>
            <a:pPr algn="ctr"/>
            <a:r>
              <a:rPr lang="en-US" sz="3200" dirty="0"/>
              <a:t>DEPLOYMENT</a:t>
            </a:r>
            <a:endParaRPr lang="en-KE" sz="3200" dirty="0"/>
          </a:p>
        </p:txBody>
      </p:sp>
      <p:pic>
        <p:nvPicPr>
          <p:cNvPr id="6" name="Content Placeholder 5">
            <a:extLst>
              <a:ext uri="{FF2B5EF4-FFF2-40B4-BE49-F238E27FC236}">
                <a16:creationId xmlns:a16="http://schemas.microsoft.com/office/drawing/2014/main" id="{7DC1A6A9-CCFD-4D2B-B604-317DB80D686B}"/>
              </a:ext>
            </a:extLst>
          </p:cNvPr>
          <p:cNvPicPr>
            <a:picLocks noGrp="1" noChangeAspect="1"/>
          </p:cNvPicPr>
          <p:nvPr>
            <p:ph sz="half" idx="2"/>
          </p:nvPr>
        </p:nvPicPr>
        <p:blipFill>
          <a:blip r:embed="rId2"/>
          <a:stretch>
            <a:fillRect/>
          </a:stretch>
        </p:blipFill>
        <p:spPr>
          <a:xfrm>
            <a:off x="7191374" y="2362200"/>
            <a:ext cx="4505325" cy="3371850"/>
          </a:xfrm>
        </p:spPr>
      </p:pic>
    </p:spTree>
    <p:extLst>
      <p:ext uri="{BB962C8B-B14F-4D97-AF65-F5344CB8AC3E}">
        <p14:creationId xmlns:p14="http://schemas.microsoft.com/office/powerpoint/2010/main" val="2150172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E5099-8511-4357-96BE-0706FAEDAB64}"/>
              </a:ext>
            </a:extLst>
          </p:cNvPr>
          <p:cNvSpPr>
            <a:spLocks noGrp="1"/>
          </p:cNvSpPr>
          <p:nvPr>
            <p:ph type="title"/>
          </p:nvPr>
        </p:nvSpPr>
        <p:spPr>
          <a:xfrm>
            <a:off x="2259549" y="599238"/>
            <a:ext cx="5893851" cy="776065"/>
          </a:xfrm>
        </p:spPr>
        <p:txBody>
          <a:bodyPr>
            <a:normAutofit/>
          </a:bodyPr>
          <a:lstStyle/>
          <a:p>
            <a:pPr algn="ctr"/>
            <a:r>
              <a:rPr lang="en-US" sz="2400" dirty="0"/>
              <a:t>TOTAL NET SALES BY REGION</a:t>
            </a:r>
            <a:endParaRPr lang="en-KE" sz="2400" dirty="0"/>
          </a:p>
        </p:txBody>
      </p:sp>
      <p:sp>
        <p:nvSpPr>
          <p:cNvPr id="9" name="Content Placeholder 8">
            <a:extLst>
              <a:ext uri="{FF2B5EF4-FFF2-40B4-BE49-F238E27FC236}">
                <a16:creationId xmlns:a16="http://schemas.microsoft.com/office/drawing/2014/main" id="{C5BFBD3F-EA99-41F0-BA84-C39CA1AD3BA9}"/>
              </a:ext>
            </a:extLst>
          </p:cNvPr>
          <p:cNvSpPr>
            <a:spLocks noGrp="1"/>
          </p:cNvSpPr>
          <p:nvPr>
            <p:ph sz="half" idx="1"/>
          </p:nvPr>
        </p:nvSpPr>
        <p:spPr>
          <a:xfrm>
            <a:off x="1219201" y="1447800"/>
            <a:ext cx="5591174" cy="4892047"/>
          </a:xfrm>
        </p:spPr>
        <p:txBody>
          <a:bodyPr>
            <a:normAutofit fontScale="92500" lnSpcReduction="20000"/>
          </a:bodyPr>
          <a:lstStyle/>
          <a:p>
            <a:r>
              <a:rPr lang="en-US" dirty="0"/>
              <a:t>Office supplies generate the highest revenue at $165K, making them the strongest-performing category.</a:t>
            </a:r>
          </a:p>
          <a:p>
            <a:r>
              <a:rPr lang="en-US" dirty="0"/>
              <a:t>Technology follows closely with $155K, contributing significantly to overall sales performance.</a:t>
            </a:r>
          </a:p>
          <a:p>
            <a:r>
              <a:rPr lang="en-US" dirty="0"/>
              <a:t>Furniture records $151K, only slightly behind Technology, indicating consistent demand across categories.</a:t>
            </a:r>
          </a:p>
          <a:p>
            <a:r>
              <a:rPr lang="en-US" dirty="0"/>
              <a:t>The sales distribution is fairly balanced, with all three categories contributing between $150K and $165K. This suggests diversified product performance, reducing the risk of relying on a single category.</a:t>
            </a:r>
          </a:p>
          <a:p>
            <a:r>
              <a:rPr lang="en-US" dirty="0" err="1"/>
              <a:t>GlobalMart</a:t>
            </a:r>
            <a:r>
              <a:rPr lang="en-US" dirty="0"/>
              <a:t> has a well-rounded product portfolio, with each category making a meaningful contribution. This balance provides flexibility in strategic planning and opportunities for targeted growth in all categories.</a:t>
            </a:r>
            <a:endParaRPr lang="en-KE" dirty="0"/>
          </a:p>
        </p:txBody>
      </p:sp>
      <p:pic>
        <p:nvPicPr>
          <p:cNvPr id="7" name="Content Placeholder 6">
            <a:extLst>
              <a:ext uri="{FF2B5EF4-FFF2-40B4-BE49-F238E27FC236}">
                <a16:creationId xmlns:a16="http://schemas.microsoft.com/office/drawing/2014/main" id="{0A1C24FF-3446-400B-A6AE-2DD915243047}"/>
              </a:ext>
            </a:extLst>
          </p:cNvPr>
          <p:cNvPicPr>
            <a:picLocks noGrp="1" noChangeAspect="1"/>
          </p:cNvPicPr>
          <p:nvPr>
            <p:ph sz="half" idx="2"/>
          </p:nvPr>
        </p:nvPicPr>
        <p:blipFill>
          <a:blip r:embed="rId2"/>
          <a:stretch>
            <a:fillRect/>
          </a:stretch>
        </p:blipFill>
        <p:spPr>
          <a:xfrm>
            <a:off x="7191375" y="2171700"/>
            <a:ext cx="4313238" cy="3290739"/>
          </a:xfrm>
        </p:spPr>
      </p:pic>
    </p:spTree>
    <p:extLst>
      <p:ext uri="{BB962C8B-B14F-4D97-AF65-F5344CB8AC3E}">
        <p14:creationId xmlns:p14="http://schemas.microsoft.com/office/powerpoint/2010/main" val="35665743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B5D88-7ADE-42B4-AA8F-4F2CF8611B30}"/>
              </a:ext>
            </a:extLst>
          </p:cNvPr>
          <p:cNvSpPr>
            <a:spLocks noGrp="1"/>
          </p:cNvSpPr>
          <p:nvPr>
            <p:ph type="title"/>
          </p:nvPr>
        </p:nvSpPr>
        <p:spPr/>
        <p:txBody>
          <a:bodyPr/>
          <a:lstStyle/>
          <a:p>
            <a:r>
              <a:rPr lang="en-US" dirty="0"/>
              <a:t>TOTAL SALES PER YEAR</a:t>
            </a:r>
            <a:endParaRPr lang="en-KE" dirty="0"/>
          </a:p>
        </p:txBody>
      </p:sp>
      <p:sp>
        <p:nvSpPr>
          <p:cNvPr id="3" name="Content Placeholder 2">
            <a:extLst>
              <a:ext uri="{FF2B5EF4-FFF2-40B4-BE49-F238E27FC236}">
                <a16:creationId xmlns:a16="http://schemas.microsoft.com/office/drawing/2014/main" id="{4F639B49-CA63-4503-9787-9012B72B6C03}"/>
              </a:ext>
            </a:extLst>
          </p:cNvPr>
          <p:cNvSpPr>
            <a:spLocks noGrp="1"/>
          </p:cNvSpPr>
          <p:nvPr>
            <p:ph sz="half" idx="1"/>
          </p:nvPr>
        </p:nvSpPr>
        <p:spPr>
          <a:xfrm>
            <a:off x="2589212" y="2133599"/>
            <a:ext cx="4313864" cy="4371975"/>
          </a:xfrm>
        </p:spPr>
        <p:txBody>
          <a:bodyPr>
            <a:normAutofit fontScale="92500" lnSpcReduction="20000"/>
          </a:bodyPr>
          <a:lstStyle/>
          <a:p>
            <a:r>
              <a:rPr lang="en-US" dirty="0"/>
              <a:t>In the Years 2023and 2024 </a:t>
            </a:r>
            <a:r>
              <a:rPr lang="en-US" dirty="0" err="1"/>
              <a:t>GlobalMart</a:t>
            </a:r>
            <a:r>
              <a:rPr lang="en-US" dirty="0"/>
              <a:t> recorded strongest sales, contributing almost equally to overall sales: 2024: $227K (48.32%) 2023: $226K (47.92%). </a:t>
            </a:r>
            <a:r>
              <a:rPr lang="en-US" dirty="0" err="1"/>
              <a:t>Cummulatively</a:t>
            </a:r>
            <a:r>
              <a:rPr lang="en-US" dirty="0"/>
              <a:t>, they account for over 96% of total sales.</a:t>
            </a:r>
          </a:p>
          <a:p>
            <a:r>
              <a:rPr lang="en-US" dirty="0"/>
              <a:t>2022 however, shows a significant decline, with only $18K (3.75%), which may suggest incomplete data for the year or an actual drop in sales performance.</a:t>
            </a:r>
          </a:p>
          <a:p>
            <a:r>
              <a:rPr lang="en-US" dirty="0"/>
              <a:t>The overall, sales performance has been relatively stable between 2023 and 2024, but the sharp dip in 2022 is a key concern that needs further analysis (possible reasons: reporting cut-off, market slowdown, or data limitations).</a:t>
            </a:r>
            <a:endParaRPr lang="en-KE" dirty="0"/>
          </a:p>
        </p:txBody>
      </p:sp>
      <p:pic>
        <p:nvPicPr>
          <p:cNvPr id="6" name="Content Placeholder 5">
            <a:extLst>
              <a:ext uri="{FF2B5EF4-FFF2-40B4-BE49-F238E27FC236}">
                <a16:creationId xmlns:a16="http://schemas.microsoft.com/office/drawing/2014/main" id="{3D805077-9540-4461-95ED-866E382CBD4C}"/>
              </a:ext>
            </a:extLst>
          </p:cNvPr>
          <p:cNvPicPr>
            <a:picLocks noGrp="1" noChangeAspect="1"/>
          </p:cNvPicPr>
          <p:nvPr>
            <p:ph sz="half" idx="2"/>
          </p:nvPr>
        </p:nvPicPr>
        <p:blipFill>
          <a:blip r:embed="rId2"/>
          <a:stretch>
            <a:fillRect/>
          </a:stretch>
        </p:blipFill>
        <p:spPr>
          <a:xfrm>
            <a:off x="7286625" y="2352676"/>
            <a:ext cx="4217988" cy="2952750"/>
          </a:xfrm>
        </p:spPr>
      </p:pic>
    </p:spTree>
    <p:extLst>
      <p:ext uri="{BB962C8B-B14F-4D97-AF65-F5344CB8AC3E}">
        <p14:creationId xmlns:p14="http://schemas.microsoft.com/office/powerpoint/2010/main" val="22328202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F6272-C99A-4F25-BBD6-A49BD0B6CA55}"/>
              </a:ext>
            </a:extLst>
          </p:cNvPr>
          <p:cNvSpPr>
            <a:spLocks noGrp="1"/>
          </p:cNvSpPr>
          <p:nvPr>
            <p:ph type="title"/>
          </p:nvPr>
        </p:nvSpPr>
        <p:spPr/>
        <p:txBody>
          <a:bodyPr/>
          <a:lstStyle/>
          <a:p>
            <a:r>
              <a:rPr lang="en-US" dirty="0"/>
              <a:t>SALES &amp; PROFIT BY YEAR</a:t>
            </a:r>
            <a:endParaRPr lang="en-KE" dirty="0"/>
          </a:p>
        </p:txBody>
      </p:sp>
      <p:sp>
        <p:nvSpPr>
          <p:cNvPr id="3" name="Content Placeholder 2">
            <a:extLst>
              <a:ext uri="{FF2B5EF4-FFF2-40B4-BE49-F238E27FC236}">
                <a16:creationId xmlns:a16="http://schemas.microsoft.com/office/drawing/2014/main" id="{BAC9A845-8152-46D2-9AB1-2FD1D7899520}"/>
              </a:ext>
            </a:extLst>
          </p:cNvPr>
          <p:cNvSpPr>
            <a:spLocks noGrp="1"/>
          </p:cNvSpPr>
          <p:nvPr>
            <p:ph sz="half" idx="1"/>
          </p:nvPr>
        </p:nvSpPr>
        <p:spPr/>
        <p:txBody>
          <a:bodyPr/>
          <a:lstStyle/>
          <a:p>
            <a:r>
              <a:rPr lang="en-US" dirty="0"/>
              <a:t>Profit follows a similar trajectory with sales, rising sharply from 2022 to 2023, aligning with the sales growth.</a:t>
            </a:r>
          </a:p>
          <a:p>
            <a:r>
              <a:rPr lang="en-US" dirty="0"/>
              <a:t>From 2023 to 2024, profit remains flat, showing no further improvement despite steady sales</a:t>
            </a:r>
            <a:endParaRPr lang="en-KE" dirty="0"/>
          </a:p>
        </p:txBody>
      </p:sp>
      <p:pic>
        <p:nvPicPr>
          <p:cNvPr id="6" name="Content Placeholder 5">
            <a:extLst>
              <a:ext uri="{FF2B5EF4-FFF2-40B4-BE49-F238E27FC236}">
                <a16:creationId xmlns:a16="http://schemas.microsoft.com/office/drawing/2014/main" id="{DA2BBBAA-AE63-4E91-AE2F-754139816653}"/>
              </a:ext>
            </a:extLst>
          </p:cNvPr>
          <p:cNvPicPr>
            <a:picLocks noGrp="1" noChangeAspect="1"/>
          </p:cNvPicPr>
          <p:nvPr>
            <p:ph sz="half" idx="2"/>
          </p:nvPr>
        </p:nvPicPr>
        <p:blipFill>
          <a:blip r:embed="rId2"/>
          <a:stretch>
            <a:fillRect/>
          </a:stretch>
        </p:blipFill>
        <p:spPr>
          <a:xfrm>
            <a:off x="7191375" y="2333625"/>
            <a:ext cx="4313238" cy="2885867"/>
          </a:xfrm>
        </p:spPr>
      </p:pic>
    </p:spTree>
    <p:extLst>
      <p:ext uri="{BB962C8B-B14F-4D97-AF65-F5344CB8AC3E}">
        <p14:creationId xmlns:p14="http://schemas.microsoft.com/office/powerpoint/2010/main" val="40040897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99533-5774-4CEA-8DBD-3841C81F8B5B}"/>
              </a:ext>
            </a:extLst>
          </p:cNvPr>
          <p:cNvSpPr>
            <a:spLocks noGrp="1"/>
          </p:cNvSpPr>
          <p:nvPr>
            <p:ph type="title"/>
          </p:nvPr>
        </p:nvSpPr>
        <p:spPr/>
        <p:txBody>
          <a:bodyPr/>
          <a:lstStyle/>
          <a:p>
            <a:r>
              <a:rPr lang="en-US" dirty="0"/>
              <a:t>Profit Margin by Month</a:t>
            </a:r>
            <a:endParaRPr lang="en-KE" dirty="0"/>
          </a:p>
        </p:txBody>
      </p:sp>
      <p:sp>
        <p:nvSpPr>
          <p:cNvPr id="3" name="Content Placeholder 2">
            <a:extLst>
              <a:ext uri="{FF2B5EF4-FFF2-40B4-BE49-F238E27FC236}">
                <a16:creationId xmlns:a16="http://schemas.microsoft.com/office/drawing/2014/main" id="{795134A6-1414-49EA-9E80-F59AA4ABE3F9}"/>
              </a:ext>
            </a:extLst>
          </p:cNvPr>
          <p:cNvSpPr>
            <a:spLocks noGrp="1"/>
          </p:cNvSpPr>
          <p:nvPr>
            <p:ph sz="half" idx="1"/>
          </p:nvPr>
        </p:nvSpPr>
        <p:spPr>
          <a:xfrm>
            <a:off x="2076450" y="1809750"/>
            <a:ext cx="4826626" cy="4810126"/>
          </a:xfrm>
        </p:spPr>
        <p:txBody>
          <a:bodyPr>
            <a:noAutofit/>
          </a:bodyPr>
          <a:lstStyle/>
          <a:p>
            <a:r>
              <a:rPr lang="en-US" sz="1500" dirty="0" err="1"/>
              <a:t>GlobalMart</a:t>
            </a:r>
            <a:r>
              <a:rPr lang="en-US" sz="1500" dirty="0"/>
              <a:t> shows a clear, consistent increase in profit margin percentage from September through January. The line generally slopes upward, indicating that the company's profitability, per dollar of sales, has been improving steadily. </a:t>
            </a:r>
          </a:p>
          <a:p>
            <a:r>
              <a:rPr lang="en-US" sz="1500" dirty="0"/>
              <a:t>There's a notable steep increase in profit margin in the last few months shown on the chart (April to January). The final data point in January represents the highest profit margin, at nearly 74%. This suggests that recent strategies or seasonal factors have been highly effective in boosting profitability. </a:t>
            </a:r>
          </a:p>
          <a:p>
            <a:r>
              <a:rPr lang="en-US" sz="1500" dirty="0"/>
              <a:t>From September to around February, the profit margin grew at a slower, more gradual pace. The incline is less steep compared to the later months, which shows a period of moderate, continuous improvement before the accelerated growth.</a:t>
            </a:r>
          </a:p>
        </p:txBody>
      </p:sp>
      <p:pic>
        <p:nvPicPr>
          <p:cNvPr id="6" name="Content Placeholder 5">
            <a:extLst>
              <a:ext uri="{FF2B5EF4-FFF2-40B4-BE49-F238E27FC236}">
                <a16:creationId xmlns:a16="http://schemas.microsoft.com/office/drawing/2014/main" id="{1AA9A68F-8419-4179-81DF-35E98C70C973}"/>
              </a:ext>
            </a:extLst>
          </p:cNvPr>
          <p:cNvPicPr>
            <a:picLocks noGrp="1" noChangeAspect="1"/>
          </p:cNvPicPr>
          <p:nvPr>
            <p:ph sz="half" idx="2"/>
          </p:nvPr>
        </p:nvPicPr>
        <p:blipFill>
          <a:blip r:embed="rId2"/>
          <a:stretch>
            <a:fillRect/>
          </a:stretch>
        </p:blipFill>
        <p:spPr>
          <a:xfrm>
            <a:off x="7191375" y="2381250"/>
            <a:ext cx="4313238" cy="2680279"/>
          </a:xfrm>
        </p:spPr>
      </p:pic>
    </p:spTree>
    <p:extLst>
      <p:ext uri="{BB962C8B-B14F-4D97-AF65-F5344CB8AC3E}">
        <p14:creationId xmlns:p14="http://schemas.microsoft.com/office/powerpoint/2010/main" val="9395935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D7DE9-208E-4ED5-9504-B3BACDEE4472}"/>
              </a:ext>
            </a:extLst>
          </p:cNvPr>
          <p:cNvSpPr>
            <a:spLocks noGrp="1"/>
          </p:cNvSpPr>
          <p:nvPr>
            <p:ph type="title"/>
          </p:nvPr>
        </p:nvSpPr>
        <p:spPr>
          <a:xfrm>
            <a:off x="4706311" y="624110"/>
            <a:ext cx="4313864" cy="1280890"/>
          </a:xfrm>
        </p:spPr>
        <p:txBody>
          <a:bodyPr/>
          <a:lstStyle/>
          <a:p>
            <a:pPr algn="ctr"/>
            <a:r>
              <a:rPr lang="en-US" dirty="0"/>
              <a:t>KPIs</a:t>
            </a:r>
            <a:endParaRPr lang="en-KE" dirty="0"/>
          </a:p>
        </p:txBody>
      </p:sp>
      <p:pic>
        <p:nvPicPr>
          <p:cNvPr id="6" name="Content Placeholder 5">
            <a:extLst>
              <a:ext uri="{FF2B5EF4-FFF2-40B4-BE49-F238E27FC236}">
                <a16:creationId xmlns:a16="http://schemas.microsoft.com/office/drawing/2014/main" id="{8B6D6815-D02E-4136-8F69-367AF418CF2F}"/>
              </a:ext>
            </a:extLst>
          </p:cNvPr>
          <p:cNvPicPr>
            <a:picLocks noGrp="1" noChangeAspect="1"/>
          </p:cNvPicPr>
          <p:nvPr>
            <p:ph sz="half" idx="1"/>
          </p:nvPr>
        </p:nvPicPr>
        <p:blipFill>
          <a:blip r:embed="rId2"/>
          <a:stretch>
            <a:fillRect/>
          </a:stretch>
        </p:blipFill>
        <p:spPr>
          <a:xfrm>
            <a:off x="1854823" y="1587984"/>
            <a:ext cx="2448267" cy="1076475"/>
          </a:xfrm>
        </p:spPr>
      </p:pic>
      <p:pic>
        <p:nvPicPr>
          <p:cNvPr id="8" name="Content Placeholder 7">
            <a:extLst>
              <a:ext uri="{FF2B5EF4-FFF2-40B4-BE49-F238E27FC236}">
                <a16:creationId xmlns:a16="http://schemas.microsoft.com/office/drawing/2014/main" id="{F1683746-F9F3-4B77-9AED-300A3FE69A0F}"/>
              </a:ext>
            </a:extLst>
          </p:cNvPr>
          <p:cNvPicPr>
            <a:picLocks noGrp="1" noChangeAspect="1"/>
          </p:cNvPicPr>
          <p:nvPr>
            <p:ph sz="half" idx="2"/>
          </p:nvPr>
        </p:nvPicPr>
        <p:blipFill>
          <a:blip r:embed="rId3"/>
          <a:stretch>
            <a:fillRect/>
          </a:stretch>
        </p:blipFill>
        <p:spPr>
          <a:xfrm>
            <a:off x="1864349" y="3078961"/>
            <a:ext cx="2429214" cy="1114581"/>
          </a:xfrm>
        </p:spPr>
      </p:pic>
      <p:pic>
        <p:nvPicPr>
          <p:cNvPr id="10" name="Picture 9">
            <a:extLst>
              <a:ext uri="{FF2B5EF4-FFF2-40B4-BE49-F238E27FC236}">
                <a16:creationId xmlns:a16="http://schemas.microsoft.com/office/drawing/2014/main" id="{85DC7F33-E367-4ED6-8E24-C9786556540D}"/>
              </a:ext>
            </a:extLst>
          </p:cNvPr>
          <p:cNvPicPr>
            <a:picLocks noChangeAspect="1"/>
          </p:cNvPicPr>
          <p:nvPr/>
        </p:nvPicPr>
        <p:blipFill>
          <a:blip r:embed="rId4"/>
          <a:stretch>
            <a:fillRect/>
          </a:stretch>
        </p:blipFill>
        <p:spPr>
          <a:xfrm>
            <a:off x="1740506" y="4608044"/>
            <a:ext cx="2676899" cy="1076475"/>
          </a:xfrm>
          <a:prstGeom prst="rect">
            <a:avLst/>
          </a:prstGeom>
        </p:spPr>
      </p:pic>
      <p:sp>
        <p:nvSpPr>
          <p:cNvPr id="11" name="TextBox 10">
            <a:extLst>
              <a:ext uri="{FF2B5EF4-FFF2-40B4-BE49-F238E27FC236}">
                <a16:creationId xmlns:a16="http://schemas.microsoft.com/office/drawing/2014/main" id="{A70774C7-C0A1-4574-911C-8AE8DB84D91C}"/>
              </a:ext>
            </a:extLst>
          </p:cNvPr>
          <p:cNvSpPr txBox="1"/>
          <p:nvPr/>
        </p:nvSpPr>
        <p:spPr>
          <a:xfrm>
            <a:off x="4706311" y="1733550"/>
            <a:ext cx="6809414" cy="646331"/>
          </a:xfrm>
          <a:prstGeom prst="rect">
            <a:avLst/>
          </a:prstGeom>
          <a:noFill/>
        </p:spPr>
        <p:txBody>
          <a:bodyPr wrap="square" rtlCol="0">
            <a:spAutoFit/>
          </a:bodyPr>
          <a:lstStyle/>
          <a:p>
            <a:pPr marL="285750" indent="-285750">
              <a:buFont typeface="Wingdings" panose="05000000000000000000" pitchFamily="2" charset="2"/>
              <a:buChar char="Ø"/>
            </a:pPr>
            <a:r>
              <a:rPr lang="en-US" dirty="0"/>
              <a:t>The Total Net Sales for </a:t>
            </a:r>
            <a:r>
              <a:rPr lang="en-US" dirty="0" err="1"/>
              <a:t>GlobalMart</a:t>
            </a:r>
            <a:r>
              <a:rPr lang="en-US" dirty="0"/>
              <a:t>, after cleaning the data amounts to approximately $480K</a:t>
            </a:r>
            <a:endParaRPr lang="en-KE" dirty="0"/>
          </a:p>
        </p:txBody>
      </p:sp>
      <p:sp>
        <p:nvSpPr>
          <p:cNvPr id="12" name="TextBox 11">
            <a:extLst>
              <a:ext uri="{FF2B5EF4-FFF2-40B4-BE49-F238E27FC236}">
                <a16:creationId xmlns:a16="http://schemas.microsoft.com/office/drawing/2014/main" id="{CBED54AC-8D5B-4E1F-835E-8D28D6326BBB}"/>
              </a:ext>
            </a:extLst>
          </p:cNvPr>
          <p:cNvSpPr txBox="1"/>
          <p:nvPr/>
        </p:nvSpPr>
        <p:spPr>
          <a:xfrm>
            <a:off x="4706311" y="3276600"/>
            <a:ext cx="6561764" cy="646331"/>
          </a:xfrm>
          <a:prstGeom prst="rect">
            <a:avLst/>
          </a:prstGeom>
          <a:noFill/>
        </p:spPr>
        <p:txBody>
          <a:bodyPr wrap="square" rtlCol="0">
            <a:spAutoFit/>
          </a:bodyPr>
          <a:lstStyle/>
          <a:p>
            <a:pPr marL="285750" indent="-285750">
              <a:buFont typeface="Wingdings" panose="05000000000000000000" pitchFamily="2" charset="2"/>
              <a:buChar char="Ø"/>
            </a:pPr>
            <a:r>
              <a:rPr lang="en-US" dirty="0"/>
              <a:t>The Total Quantity of products sold in the regions are 5K</a:t>
            </a:r>
            <a:endParaRPr lang="en-KE" dirty="0"/>
          </a:p>
        </p:txBody>
      </p:sp>
      <p:sp>
        <p:nvSpPr>
          <p:cNvPr id="13" name="TextBox 12">
            <a:extLst>
              <a:ext uri="{FF2B5EF4-FFF2-40B4-BE49-F238E27FC236}">
                <a16:creationId xmlns:a16="http://schemas.microsoft.com/office/drawing/2014/main" id="{C630FF90-D6A8-4018-84A2-526D776F3677}"/>
              </a:ext>
            </a:extLst>
          </p:cNvPr>
          <p:cNvSpPr txBox="1"/>
          <p:nvPr/>
        </p:nvSpPr>
        <p:spPr>
          <a:xfrm>
            <a:off x="4914900" y="4791075"/>
            <a:ext cx="6162675" cy="646331"/>
          </a:xfrm>
          <a:prstGeom prst="rect">
            <a:avLst/>
          </a:prstGeom>
          <a:noFill/>
        </p:spPr>
        <p:txBody>
          <a:bodyPr wrap="square" rtlCol="0">
            <a:spAutoFit/>
          </a:bodyPr>
          <a:lstStyle/>
          <a:p>
            <a:pPr marL="285750" indent="-285750">
              <a:buFont typeface="Wingdings" panose="05000000000000000000" pitchFamily="2" charset="2"/>
              <a:buChar char="Ø"/>
            </a:pPr>
            <a:r>
              <a:rPr lang="en-US" dirty="0"/>
              <a:t>Sales YoY Growth % of </a:t>
            </a:r>
            <a:r>
              <a:rPr lang="en-US" dirty="0" err="1"/>
              <a:t>GlobalMart</a:t>
            </a:r>
            <a:r>
              <a:rPr lang="en-US" dirty="0"/>
              <a:t> from the year 2022 to 2024 amounts to 0.94%</a:t>
            </a:r>
            <a:endParaRPr lang="en-KE" dirty="0"/>
          </a:p>
        </p:txBody>
      </p:sp>
    </p:spTree>
    <p:extLst>
      <p:ext uri="{BB962C8B-B14F-4D97-AF65-F5344CB8AC3E}">
        <p14:creationId xmlns:p14="http://schemas.microsoft.com/office/powerpoint/2010/main" val="6504090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BE504BA-3C03-4CC0-8C45-5C5E7D354923}"/>
              </a:ext>
            </a:extLst>
          </p:cNvPr>
          <p:cNvPicPr>
            <a:picLocks noChangeAspect="1"/>
          </p:cNvPicPr>
          <p:nvPr/>
        </p:nvPicPr>
        <p:blipFill>
          <a:blip r:embed="rId2"/>
          <a:stretch>
            <a:fillRect/>
          </a:stretch>
        </p:blipFill>
        <p:spPr>
          <a:xfrm>
            <a:off x="2009586" y="557134"/>
            <a:ext cx="2705478" cy="1114581"/>
          </a:xfrm>
          <a:prstGeom prst="rect">
            <a:avLst/>
          </a:prstGeom>
        </p:spPr>
      </p:pic>
      <p:pic>
        <p:nvPicPr>
          <p:cNvPr id="10" name="Picture 9">
            <a:extLst>
              <a:ext uri="{FF2B5EF4-FFF2-40B4-BE49-F238E27FC236}">
                <a16:creationId xmlns:a16="http://schemas.microsoft.com/office/drawing/2014/main" id="{F61CDC67-2749-4AF8-8F2F-1E7AA1DF9B6B}"/>
              </a:ext>
            </a:extLst>
          </p:cNvPr>
          <p:cNvPicPr>
            <a:picLocks noChangeAspect="1"/>
          </p:cNvPicPr>
          <p:nvPr/>
        </p:nvPicPr>
        <p:blipFill>
          <a:blip r:embed="rId3"/>
          <a:stretch>
            <a:fillRect/>
          </a:stretch>
        </p:blipFill>
        <p:spPr>
          <a:xfrm>
            <a:off x="2009586" y="2033509"/>
            <a:ext cx="2534004" cy="1114581"/>
          </a:xfrm>
          <a:prstGeom prst="rect">
            <a:avLst/>
          </a:prstGeom>
        </p:spPr>
      </p:pic>
      <p:pic>
        <p:nvPicPr>
          <p:cNvPr id="12" name="Picture 11">
            <a:extLst>
              <a:ext uri="{FF2B5EF4-FFF2-40B4-BE49-F238E27FC236}">
                <a16:creationId xmlns:a16="http://schemas.microsoft.com/office/drawing/2014/main" id="{40FC6F20-8FF8-486F-B789-2358C37AEAAB}"/>
              </a:ext>
            </a:extLst>
          </p:cNvPr>
          <p:cNvPicPr>
            <a:picLocks noChangeAspect="1"/>
          </p:cNvPicPr>
          <p:nvPr/>
        </p:nvPicPr>
        <p:blipFill>
          <a:blip r:embed="rId4"/>
          <a:stretch>
            <a:fillRect/>
          </a:stretch>
        </p:blipFill>
        <p:spPr>
          <a:xfrm>
            <a:off x="2009586" y="3709911"/>
            <a:ext cx="2514951" cy="1124107"/>
          </a:xfrm>
          <a:prstGeom prst="rect">
            <a:avLst/>
          </a:prstGeom>
        </p:spPr>
      </p:pic>
      <p:pic>
        <p:nvPicPr>
          <p:cNvPr id="14" name="Picture 13">
            <a:extLst>
              <a:ext uri="{FF2B5EF4-FFF2-40B4-BE49-F238E27FC236}">
                <a16:creationId xmlns:a16="http://schemas.microsoft.com/office/drawing/2014/main" id="{130B1228-AF0B-46DC-AE6C-1A36C1EFA303}"/>
              </a:ext>
            </a:extLst>
          </p:cNvPr>
          <p:cNvPicPr>
            <a:picLocks noChangeAspect="1"/>
          </p:cNvPicPr>
          <p:nvPr/>
        </p:nvPicPr>
        <p:blipFill>
          <a:blip r:embed="rId5"/>
          <a:stretch>
            <a:fillRect/>
          </a:stretch>
        </p:blipFill>
        <p:spPr>
          <a:xfrm>
            <a:off x="2009586" y="5248277"/>
            <a:ext cx="2457793" cy="1105054"/>
          </a:xfrm>
          <a:prstGeom prst="rect">
            <a:avLst/>
          </a:prstGeom>
        </p:spPr>
      </p:pic>
      <p:sp>
        <p:nvSpPr>
          <p:cNvPr id="15" name="TextBox 14">
            <a:extLst>
              <a:ext uri="{FF2B5EF4-FFF2-40B4-BE49-F238E27FC236}">
                <a16:creationId xmlns:a16="http://schemas.microsoft.com/office/drawing/2014/main" id="{C0C14A7A-A48B-4561-B02F-F9A3D72D235E}"/>
              </a:ext>
            </a:extLst>
          </p:cNvPr>
          <p:cNvSpPr txBox="1"/>
          <p:nvPr/>
        </p:nvSpPr>
        <p:spPr>
          <a:xfrm>
            <a:off x="5314950" y="5477638"/>
            <a:ext cx="4905375" cy="646331"/>
          </a:xfrm>
          <a:prstGeom prst="rect">
            <a:avLst/>
          </a:prstGeom>
          <a:noFill/>
        </p:spPr>
        <p:txBody>
          <a:bodyPr wrap="square" rtlCol="0">
            <a:spAutoFit/>
          </a:bodyPr>
          <a:lstStyle/>
          <a:p>
            <a:pPr marL="285750" indent="-285750">
              <a:buFont typeface="Wingdings" panose="05000000000000000000" pitchFamily="2" charset="2"/>
              <a:buChar char="Ø"/>
            </a:pPr>
            <a:r>
              <a:rPr lang="en-US" dirty="0"/>
              <a:t>It takes approximately 5 days for </a:t>
            </a:r>
            <a:r>
              <a:rPr lang="en-US" dirty="0" err="1"/>
              <a:t>GlobalMart</a:t>
            </a:r>
            <a:r>
              <a:rPr lang="en-US" dirty="0"/>
              <a:t> products to be distributed.</a:t>
            </a:r>
            <a:endParaRPr lang="en-KE" dirty="0"/>
          </a:p>
        </p:txBody>
      </p:sp>
      <p:sp>
        <p:nvSpPr>
          <p:cNvPr id="16" name="TextBox 15">
            <a:extLst>
              <a:ext uri="{FF2B5EF4-FFF2-40B4-BE49-F238E27FC236}">
                <a16:creationId xmlns:a16="http://schemas.microsoft.com/office/drawing/2014/main" id="{D5E42CC6-B7F3-40D2-984A-739B3744BA4B}"/>
              </a:ext>
            </a:extLst>
          </p:cNvPr>
          <p:cNvSpPr txBox="1"/>
          <p:nvPr/>
        </p:nvSpPr>
        <p:spPr>
          <a:xfrm>
            <a:off x="5314950" y="819150"/>
            <a:ext cx="5581650" cy="646331"/>
          </a:xfrm>
          <a:prstGeom prst="rect">
            <a:avLst/>
          </a:prstGeom>
          <a:noFill/>
        </p:spPr>
        <p:txBody>
          <a:bodyPr wrap="square" rtlCol="0">
            <a:spAutoFit/>
          </a:bodyPr>
          <a:lstStyle/>
          <a:p>
            <a:pPr marL="285750" indent="-285750">
              <a:buFont typeface="Wingdings" panose="05000000000000000000" pitchFamily="2" charset="2"/>
              <a:buChar char="Ø"/>
            </a:pPr>
            <a:r>
              <a:rPr lang="en-US" dirty="0"/>
              <a:t>The profit PY (2022-2024) approximates to $168K.</a:t>
            </a:r>
            <a:endParaRPr lang="en-KE" dirty="0"/>
          </a:p>
        </p:txBody>
      </p:sp>
      <p:sp>
        <p:nvSpPr>
          <p:cNvPr id="17" name="TextBox 16">
            <a:extLst>
              <a:ext uri="{FF2B5EF4-FFF2-40B4-BE49-F238E27FC236}">
                <a16:creationId xmlns:a16="http://schemas.microsoft.com/office/drawing/2014/main" id="{DC7E0EAC-B0FE-48E1-8641-BF9D47AF36B4}"/>
              </a:ext>
            </a:extLst>
          </p:cNvPr>
          <p:cNvSpPr txBox="1"/>
          <p:nvPr/>
        </p:nvSpPr>
        <p:spPr>
          <a:xfrm>
            <a:off x="5314950" y="2343150"/>
            <a:ext cx="5581650" cy="923330"/>
          </a:xfrm>
          <a:prstGeom prst="rect">
            <a:avLst/>
          </a:prstGeom>
          <a:noFill/>
        </p:spPr>
        <p:txBody>
          <a:bodyPr wrap="square" rtlCol="0">
            <a:spAutoFit/>
          </a:bodyPr>
          <a:lstStyle/>
          <a:p>
            <a:pPr marL="285750" indent="-285750">
              <a:buFont typeface="Wingdings" panose="05000000000000000000" pitchFamily="2" charset="2"/>
              <a:buChar char="Ø"/>
            </a:pPr>
            <a:r>
              <a:rPr lang="en-US" dirty="0"/>
              <a:t>Total Profit =SUM(</a:t>
            </a:r>
            <a:r>
              <a:rPr lang="en-US" dirty="0" err="1"/>
              <a:t>GlobalMart_Sales_Data</a:t>
            </a:r>
            <a:r>
              <a:rPr lang="en-US" dirty="0"/>
              <a:t>[Profit] contributed to approximately $325K.</a:t>
            </a:r>
            <a:endParaRPr lang="en-KE" dirty="0"/>
          </a:p>
        </p:txBody>
      </p:sp>
      <p:sp>
        <p:nvSpPr>
          <p:cNvPr id="18" name="TextBox 17">
            <a:extLst>
              <a:ext uri="{FF2B5EF4-FFF2-40B4-BE49-F238E27FC236}">
                <a16:creationId xmlns:a16="http://schemas.microsoft.com/office/drawing/2014/main" id="{D810158C-B965-4F99-AAEB-6A36215C86DD}"/>
              </a:ext>
            </a:extLst>
          </p:cNvPr>
          <p:cNvSpPr txBox="1"/>
          <p:nvPr/>
        </p:nvSpPr>
        <p:spPr>
          <a:xfrm>
            <a:off x="5352861" y="4014871"/>
            <a:ext cx="4867464" cy="923330"/>
          </a:xfrm>
          <a:prstGeom prst="rect">
            <a:avLst/>
          </a:prstGeom>
          <a:noFill/>
        </p:spPr>
        <p:txBody>
          <a:bodyPr wrap="square" rtlCol="0">
            <a:spAutoFit/>
          </a:bodyPr>
          <a:lstStyle/>
          <a:p>
            <a:pPr marL="285750" indent="-285750">
              <a:buFont typeface="Wingdings" panose="05000000000000000000" pitchFamily="2" charset="2"/>
              <a:buChar char="Ø"/>
            </a:pPr>
            <a:r>
              <a:rPr lang="en-US" dirty="0"/>
              <a:t>Profit Margin = Total Profit &amp; Total Sales which contributed to 68.95% of </a:t>
            </a:r>
            <a:r>
              <a:rPr lang="en-US" dirty="0" err="1"/>
              <a:t>GlobalMart</a:t>
            </a:r>
            <a:r>
              <a:rPr lang="en-US" dirty="0"/>
              <a:t> sales performance.</a:t>
            </a:r>
            <a:endParaRPr lang="en-KE" dirty="0"/>
          </a:p>
        </p:txBody>
      </p:sp>
    </p:spTree>
    <p:extLst>
      <p:ext uri="{BB962C8B-B14F-4D97-AF65-F5344CB8AC3E}">
        <p14:creationId xmlns:p14="http://schemas.microsoft.com/office/powerpoint/2010/main" val="7928596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00283-DB09-4696-83C7-77F0A333933C}"/>
              </a:ext>
            </a:extLst>
          </p:cNvPr>
          <p:cNvSpPr>
            <a:spLocks noGrp="1"/>
          </p:cNvSpPr>
          <p:nvPr>
            <p:ph type="title"/>
          </p:nvPr>
        </p:nvSpPr>
        <p:spPr/>
        <p:txBody>
          <a:bodyPr/>
          <a:lstStyle/>
          <a:p>
            <a:pPr algn="ctr"/>
            <a:r>
              <a:rPr lang="en-US" dirty="0"/>
              <a:t>INSIGHTS &amp; RECOMMENDATIONS </a:t>
            </a:r>
            <a:endParaRPr lang="en-KE" dirty="0"/>
          </a:p>
        </p:txBody>
      </p:sp>
      <p:sp>
        <p:nvSpPr>
          <p:cNvPr id="3" name="Content Placeholder 2">
            <a:extLst>
              <a:ext uri="{FF2B5EF4-FFF2-40B4-BE49-F238E27FC236}">
                <a16:creationId xmlns:a16="http://schemas.microsoft.com/office/drawing/2014/main" id="{CD4F35FB-1205-44B9-9698-1B28F6E1EF65}"/>
              </a:ext>
            </a:extLst>
          </p:cNvPr>
          <p:cNvSpPr>
            <a:spLocks noGrp="1"/>
          </p:cNvSpPr>
          <p:nvPr>
            <p:ph idx="1"/>
          </p:nvPr>
        </p:nvSpPr>
        <p:spPr>
          <a:xfrm>
            <a:off x="2589212" y="1695449"/>
            <a:ext cx="8915400" cy="4791075"/>
          </a:xfrm>
        </p:spPr>
        <p:txBody>
          <a:bodyPr>
            <a:normAutofit/>
          </a:bodyPr>
          <a:lstStyle/>
          <a:p>
            <a:r>
              <a:rPr lang="en-US" dirty="0"/>
              <a:t>Diversify revenue streams – Strengthen Furniture and Technology sales through targeted marketing and bundled promotions.</a:t>
            </a:r>
          </a:p>
          <a:p>
            <a:r>
              <a:rPr lang="en-US" dirty="0"/>
              <a:t>Leverage Office Supplies’ dominance – Expand upsell/cross-sell strategies by pairing Office Supplies with Furniture or Technology.</a:t>
            </a:r>
          </a:p>
          <a:p>
            <a:r>
              <a:rPr lang="en-US" dirty="0"/>
              <a:t>Investigate low Technology sales – Identify customer needs, product gaps, or pricing issues holding back growth.</a:t>
            </a:r>
          </a:p>
          <a:p>
            <a:r>
              <a:rPr lang="en-US" dirty="0"/>
              <a:t>Monitor category trends over time – Track year-over-year growth to ensure balanced performance across all categories.</a:t>
            </a:r>
          </a:p>
          <a:p>
            <a:r>
              <a:rPr lang="en-US" dirty="0"/>
              <a:t>Allocate resources and inventory toward top-performing regions and develop tailored strategies for underperforming regions</a:t>
            </a:r>
          </a:p>
          <a:p>
            <a:r>
              <a:rPr lang="en-US" dirty="0"/>
              <a:t>Expand product lines in categories with consistent growth trends.</a:t>
            </a:r>
          </a:p>
          <a:p>
            <a:r>
              <a:rPr lang="en-US" dirty="0"/>
              <a:t>Reassess product categories with low sales/profit contribution and consider discontinuing or repositioning them</a:t>
            </a:r>
            <a:endParaRPr lang="en-KE" dirty="0"/>
          </a:p>
        </p:txBody>
      </p:sp>
    </p:spTree>
    <p:extLst>
      <p:ext uri="{BB962C8B-B14F-4D97-AF65-F5344CB8AC3E}">
        <p14:creationId xmlns:p14="http://schemas.microsoft.com/office/powerpoint/2010/main" val="5680615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8CC88-B41A-486B-905C-34E9A5963F8B}"/>
              </a:ext>
            </a:extLst>
          </p:cNvPr>
          <p:cNvSpPr>
            <a:spLocks noGrp="1"/>
          </p:cNvSpPr>
          <p:nvPr>
            <p:ph type="title"/>
          </p:nvPr>
        </p:nvSpPr>
        <p:spPr/>
        <p:txBody>
          <a:bodyPr/>
          <a:lstStyle/>
          <a:p>
            <a:pPr algn="ctr"/>
            <a:r>
              <a:rPr lang="en-US" dirty="0"/>
              <a:t>RECOMMENDATIONS Contd.</a:t>
            </a:r>
            <a:endParaRPr lang="en-KE" dirty="0"/>
          </a:p>
        </p:txBody>
      </p:sp>
      <p:sp>
        <p:nvSpPr>
          <p:cNvPr id="3" name="Content Placeholder 2">
            <a:extLst>
              <a:ext uri="{FF2B5EF4-FFF2-40B4-BE49-F238E27FC236}">
                <a16:creationId xmlns:a16="http://schemas.microsoft.com/office/drawing/2014/main" id="{52E50AE8-6337-4458-90DA-3AA343EF0139}"/>
              </a:ext>
            </a:extLst>
          </p:cNvPr>
          <p:cNvSpPr>
            <a:spLocks noGrp="1"/>
          </p:cNvSpPr>
          <p:nvPr>
            <p:ph idx="1"/>
          </p:nvPr>
        </p:nvSpPr>
        <p:spPr/>
        <p:txBody>
          <a:bodyPr>
            <a:normAutofit fontScale="92500" lnSpcReduction="10000"/>
          </a:bodyPr>
          <a:lstStyle/>
          <a:p>
            <a:r>
              <a:rPr lang="en-US" dirty="0"/>
              <a:t>While sales have held steady after the 2023 spike, profit margins may have stagnated, signaling possible increases in costs, competitive pricing, or inefficiencies in operations.</a:t>
            </a:r>
          </a:p>
          <a:p>
            <a:r>
              <a:rPr lang="en-US" dirty="0"/>
              <a:t>Diversify revenue streams – Strengthen Furniture and Technology sales through targeted marketing and bundled </a:t>
            </a:r>
            <a:r>
              <a:rPr lang="en-US" dirty="0" err="1"/>
              <a:t>promotions.Leverage</a:t>
            </a:r>
            <a:r>
              <a:rPr lang="en-US" dirty="0"/>
              <a:t> Office Supplies’ dominance – Expand upsell/cross-sell strategies by pairing Office Supplies with Furniture or Technology. </a:t>
            </a:r>
          </a:p>
          <a:p>
            <a:r>
              <a:rPr lang="en-US" dirty="0"/>
              <a:t>Investigate low Technology sales – Identify customer needs, product gaps, or pricing issues holding back growth.</a:t>
            </a:r>
          </a:p>
          <a:p>
            <a:r>
              <a:rPr lang="en-US" dirty="0"/>
              <a:t>Monitor category trends over time – Track year-over-year growth to ensure balanced performance across all categories.</a:t>
            </a:r>
          </a:p>
          <a:p>
            <a:r>
              <a:rPr lang="en-US" dirty="0" err="1"/>
              <a:t>GlobalMart</a:t>
            </a:r>
            <a:r>
              <a:rPr lang="en-US" dirty="0"/>
              <a:t> grew strongly in 2023 but needs to focus on profitability in 2024 to sustain long-term performance.</a:t>
            </a:r>
          </a:p>
          <a:p>
            <a:endParaRPr lang="en-KE" dirty="0"/>
          </a:p>
        </p:txBody>
      </p:sp>
    </p:spTree>
    <p:extLst>
      <p:ext uri="{BB962C8B-B14F-4D97-AF65-F5344CB8AC3E}">
        <p14:creationId xmlns:p14="http://schemas.microsoft.com/office/powerpoint/2010/main" val="30809883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BF490-AB91-4B45-A08A-4C1836533820}"/>
              </a:ext>
            </a:extLst>
          </p:cNvPr>
          <p:cNvSpPr>
            <a:spLocks noGrp="1"/>
          </p:cNvSpPr>
          <p:nvPr>
            <p:ph type="title"/>
          </p:nvPr>
        </p:nvSpPr>
        <p:spPr/>
        <p:txBody>
          <a:bodyPr/>
          <a:lstStyle/>
          <a:p>
            <a:pPr algn="ctr"/>
            <a:r>
              <a:rPr lang="en-US" dirty="0"/>
              <a:t>CONCLUSION</a:t>
            </a:r>
            <a:endParaRPr lang="en-KE" dirty="0"/>
          </a:p>
        </p:txBody>
      </p:sp>
      <p:sp>
        <p:nvSpPr>
          <p:cNvPr id="3" name="Content Placeholder 2">
            <a:extLst>
              <a:ext uri="{FF2B5EF4-FFF2-40B4-BE49-F238E27FC236}">
                <a16:creationId xmlns:a16="http://schemas.microsoft.com/office/drawing/2014/main" id="{880F134A-9BD0-4D1E-9722-25A8ECA2577C}"/>
              </a:ext>
            </a:extLst>
          </p:cNvPr>
          <p:cNvSpPr>
            <a:spLocks noGrp="1"/>
          </p:cNvSpPr>
          <p:nvPr>
            <p:ph idx="1"/>
          </p:nvPr>
        </p:nvSpPr>
        <p:spPr>
          <a:xfrm>
            <a:off x="2589212" y="2133599"/>
            <a:ext cx="8915400" cy="4238625"/>
          </a:xfrm>
        </p:spPr>
        <p:txBody>
          <a:bodyPr/>
          <a:lstStyle/>
          <a:p>
            <a:r>
              <a:rPr lang="en-US" dirty="0" err="1"/>
              <a:t>GlobalMart’s</a:t>
            </a:r>
            <a:r>
              <a:rPr lang="en-US" dirty="0"/>
              <a:t> sales data reveals strong growth potential, but achieving long-term profitability will require focusing on high-margin categories, addressing regional disparities, and leveraging customer insights to drive sustainable performance.</a:t>
            </a:r>
            <a:endParaRPr lang="en-KE" dirty="0"/>
          </a:p>
        </p:txBody>
      </p:sp>
      <p:pic>
        <p:nvPicPr>
          <p:cNvPr id="7" name="Picture 6">
            <a:extLst>
              <a:ext uri="{FF2B5EF4-FFF2-40B4-BE49-F238E27FC236}">
                <a16:creationId xmlns:a16="http://schemas.microsoft.com/office/drawing/2014/main" id="{4BBF40C4-A1EC-43D0-A778-2C31CA8B759D}"/>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8994609" y="3962400"/>
            <a:ext cx="2177422" cy="2177422"/>
          </a:xfrm>
          <a:prstGeom prst="rect">
            <a:avLst/>
          </a:prstGeom>
        </p:spPr>
      </p:pic>
      <p:pic>
        <p:nvPicPr>
          <p:cNvPr id="9" name="Picture 8">
            <a:extLst>
              <a:ext uri="{FF2B5EF4-FFF2-40B4-BE49-F238E27FC236}">
                <a16:creationId xmlns:a16="http://schemas.microsoft.com/office/drawing/2014/main" id="{65EBCA91-03E4-4D42-8BAC-8011CDF42EAF}"/>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9519173" y="624110"/>
            <a:ext cx="1652858" cy="1086754"/>
          </a:xfrm>
          <a:prstGeom prst="rect">
            <a:avLst/>
          </a:prstGeom>
        </p:spPr>
      </p:pic>
    </p:spTree>
    <p:extLst>
      <p:ext uri="{BB962C8B-B14F-4D97-AF65-F5344CB8AC3E}">
        <p14:creationId xmlns:p14="http://schemas.microsoft.com/office/powerpoint/2010/main" val="9149745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5D7C6FE-31E6-4372-915F-A263C409264A}"/>
              </a:ext>
            </a:extLst>
          </p:cNvPr>
          <p:cNvPicPr>
            <a:picLocks noChangeAspect="1"/>
          </p:cNvPicPr>
          <p:nvPr/>
        </p:nvPicPr>
        <p:blipFill>
          <a:blip r:embed="rId2"/>
          <a:stretch>
            <a:fillRect/>
          </a:stretch>
        </p:blipFill>
        <p:spPr>
          <a:xfrm>
            <a:off x="1762124" y="243672"/>
            <a:ext cx="9544051" cy="6370655"/>
          </a:xfrm>
          <a:prstGeom prst="rect">
            <a:avLst/>
          </a:prstGeom>
        </p:spPr>
      </p:pic>
    </p:spTree>
    <p:extLst>
      <p:ext uri="{BB962C8B-B14F-4D97-AF65-F5344CB8AC3E}">
        <p14:creationId xmlns:p14="http://schemas.microsoft.com/office/powerpoint/2010/main" val="1588208357"/>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2934</TotalTime>
  <Words>1665</Words>
  <Application>Microsoft Office PowerPoint</Application>
  <PresentationFormat>Widescreen</PresentationFormat>
  <Paragraphs>105</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Century Gothic</vt:lpstr>
      <vt:lpstr>Wingdings</vt:lpstr>
      <vt:lpstr>Wingdings 3</vt:lpstr>
      <vt:lpstr>Wisp</vt:lpstr>
      <vt:lpstr>GLOBALMART_SALES_DATA PROJECT</vt:lpstr>
      <vt:lpstr>SCOPE</vt:lpstr>
      <vt:lpstr>STUDY QUESTIONS  </vt:lpstr>
      <vt:lpstr>CRISP-DM Framework in the GlobalMart Sales Performance</vt:lpstr>
      <vt:lpstr>BUSINESS UNDERSTANDING &amp; OBJECTIVES</vt:lpstr>
      <vt:lpstr>DATA UNDERSTANDING</vt:lpstr>
      <vt:lpstr>DATA PREPARATION</vt:lpstr>
      <vt:lpstr>MODELLING</vt:lpstr>
      <vt:lpstr>EVALUATION</vt:lpstr>
      <vt:lpstr>TOTAL NET SALES PER REGION</vt:lpstr>
      <vt:lpstr>TOTAL NET SALES BY REGION</vt:lpstr>
      <vt:lpstr>TOTAL SALES PER YEAR</vt:lpstr>
      <vt:lpstr>SALES &amp; PROFIT BY YEAR</vt:lpstr>
      <vt:lpstr>Profit Margin by Month</vt:lpstr>
      <vt:lpstr>KPIs</vt:lpstr>
      <vt:lpstr>PowerPoint Presentation</vt:lpstr>
      <vt:lpstr>INSIGHTS &amp; RECOMMENDATIONS </vt:lpstr>
      <vt:lpstr>RECOMMENDATIONS Contd.</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GLOBALMART_SALES_DATA PROJECT</dc:title>
  <dc:creator>Joe</dc:creator>
  <cp:lastModifiedBy>Joe</cp:lastModifiedBy>
  <cp:revision>27</cp:revision>
  <dcterms:created xsi:type="dcterms:W3CDTF">2025-09-01T09:22:28Z</dcterms:created>
  <dcterms:modified xsi:type="dcterms:W3CDTF">2025-09-04T08:13:45Z</dcterms:modified>
</cp:coreProperties>
</file>